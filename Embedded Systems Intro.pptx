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oppins"/>
      <ns0:bold ns1:id="rIdFont15"/>
    </ns0:embeddedFont>
    <ns0:embeddedFont>
      <ns0:font typeface="Inte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d077fe25-4086-4350-8d79-6aa38d6f8abc.fntdata" /><ns0:Relationship Id="rIdFont16" Type="http://schemas.openxmlformats.org/officeDocument/2006/relationships/font" Target="fonts/b42a79ad-bdf5-4f88-8eb4-221a559a4ab3.fntdata" /><ns0:Relationship Id="rIdFont17" Type="http://schemas.openxmlformats.org/officeDocument/2006/relationships/font" Target="fonts/dc3fd16b-8d23-49a2-a917-0a962a1980f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988790"/>
            <a:ext cx="2314575" cy="276225"/>
          </a:xfrm>
          <a:prstGeom prst="roundRect">
            <a:avLst>
              <a:gd name="adj" fmla="val 50000"/>
            </a:avLst>
          </a:prstGeom>
          <a:solidFill>
            <a:srgbClr val="1C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4488060"/>
            <a:ext cx="8572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488060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07135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25" y="4707135"/>
            <a:ext cx="1809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4707135"/>
            <a:ext cx="1809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2045940"/>
            <a:ext cx="2105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ECE DOMAIN 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455515"/>
            <a:ext cx="11251406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oppins"/>
              </a:rPr>
              <a:t>EMBEDDED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211710"/>
            <a:ext cx="10715625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2100" i="0" u="none">
                <a:solidFill>
                  <a:srgbClr val="38BDF8"/>
                </a:solidFill>
                <a:latin typeface="Inter"/>
              </a:rPr>
              <a:t>From Code to Real-World Machines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49885"/>
            <a:ext cx="107156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 beginner-friendly guide for ECE freshers | </a:t>
            </a:r>
            <a:r>
              <a:rPr b="1" sz="1350" i="0" u="none">
                <a:solidFill>
                  <a:srgbClr val="94A3B8"/>
                </a:solidFill>
                <a:latin typeface="Inter"/>
              </a:rPr>
              <a:t>IIIT Kottayam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688085"/>
            <a:ext cx="1654968" cy="180975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Microcontrollers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1225" y="4688085"/>
            <a:ext cx="1964531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Low-Level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0" y="4688085"/>
            <a:ext cx="198834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Intelligent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1281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8981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26681"/>
            <a:ext cx="171450" cy="1809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612481"/>
            <a:ext cx="5334000" cy="1138237"/>
          </a:xfrm>
          <a:prstGeom prst="roundRect">
            <a:avLst>
              <a:gd name="adj" fmla="val 10041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2857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737" y="4822031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5050" y="5086350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1812" y="4822031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8125" y="5086350"/>
            <a:ext cx="1238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8225" y="4822031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476250"/>
            <a:ext cx="11220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What is an Embedded System?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878806"/>
            <a:ext cx="5429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1E293B"/>
                </a:solidFill>
                <a:latin typeface="Inter"/>
              </a:rPr>
              <a:t>An embedded system is a </a:t>
            </a:r>
            <a:r>
              <a:rPr b="1" sz="1425" i="0" u="none">
                <a:solidFill>
                  <a:srgbClr val="1E293B"/>
                </a:solidFill>
                <a:latin typeface="Inter"/>
              </a:rPr>
              <a:t>specialized computer built inside a device</a:t>
            </a:r>
            <a:r>
              <a:rPr b="0" sz="1425" i="0" u="none">
                <a:solidFill>
                  <a:srgbClr val="1E293B"/>
                </a:solidFill>
                <a:latin typeface="Inter"/>
              </a:rPr>
              <a:t> to perform dedicated, real-world control 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612231"/>
            <a:ext cx="5143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Bridges Two Worlds: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Connects software decisions with physical hardware.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59931"/>
            <a:ext cx="5143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Intelligent Devices: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Drives cars, drones, smartwatches &amp; washing machines.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907631"/>
            <a:ext cx="5143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Targeted Purpose: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Optimized for specific timing, memory &amp; efficiency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807" y="5164931"/>
            <a:ext cx="187523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456" y="5355431"/>
            <a:ext cx="1785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Sensors / Buttons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882" y="5164931"/>
            <a:ext cx="187523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5531" y="5355431"/>
            <a:ext cx="1785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MCU +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3957" y="5164931"/>
            <a:ext cx="187523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8606" y="5355431"/>
            <a:ext cx="1785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Motors / Display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5276850"/>
            <a:ext cx="11049000" cy="5334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571750"/>
            <a:ext cx="352425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3875" y="2571750"/>
            <a:ext cx="352425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0" y="2571750"/>
            <a:ext cx="352425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219075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25" y="5467350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8765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2876550"/>
            <a:ext cx="3810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87655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75" y="476250"/>
            <a:ext cx="112871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Why is Embedded Systems Important?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819275"/>
            <a:ext cx="11144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Modern devices are becoming smarter, fully connected, and automated. Embedded engineers are the architects turning electronic hardware into functional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85750" y="5448300"/>
            <a:ext cx="1276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Unifies Core ECE Domains: Electronics + Digital Logic + Programming + Communication + Control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3375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oppins"/>
              </a:rPr>
              <a:t>Automotive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733800"/>
            <a:ext cx="30670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Controls critical braking systems, airbags, battery management in EVs, infotainment &amp; autonomous driving (ADAS).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333375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oppins"/>
              </a:rPr>
              <a:t>IoT &amp; Smart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3733800"/>
            <a:ext cx="30670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Powers connected sensors that sense, process, and transmit environmental data to cloud networks efficiently.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475" y="333375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oppins"/>
              </a:rPr>
              <a:t>Critical Industries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475" y="3733800"/>
            <a:ext cx="30670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Essential across medical devices, industrial robotics, aerospace systems, and smart energy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574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09937" y="20574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32766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09937" y="32766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44958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09937" y="4495800"/>
            <a:ext cx="2595562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28575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262187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862" y="2262187"/>
            <a:ext cx="1714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481387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1862" y="3481387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4700587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1862" y="4700587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1550" y="476250"/>
            <a:ext cx="11220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Scope &amp; Career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2219325"/>
            <a:ext cx="220527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Firmware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5717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Low-level driver software controlling hardware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8562" y="2219325"/>
            <a:ext cx="220527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1862" y="25717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Designing PCB circuits &amp; MCU peripherals.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75" y="3438525"/>
            <a:ext cx="2185273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Automotive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37909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ECUs, CAN bus protocols, ADAS &amp; EV systems.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9512" y="3438525"/>
            <a:ext cx="222527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Real-Time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1862" y="37909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Strict timing limits &amp; RTOS scheduling.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4657725"/>
            <a:ext cx="224528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 Embedded Linux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50101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High-performance processors &amp; OS drivers.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9512" y="4657725"/>
            <a:ext cx="222527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oppins"/>
              </a:rPr>
              <a:t>Edge AI / TinyML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1862" y="5010150"/>
            <a:ext cx="236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Running ML models directly on MCUs.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490912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9920" y="3490912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1781" y="3490912"/>
            <a:ext cx="3309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4129087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9920" y="4129087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1781" y="4129087"/>
            <a:ext cx="3309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4672012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9920" y="4672012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01781" y="4672012"/>
            <a:ext cx="3309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11331" y="2843212"/>
            <a:ext cx="89535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82881" y="2843212"/>
            <a:ext cx="828675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11331" y="3109912"/>
            <a:ext cx="104775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11331" y="3700462"/>
            <a:ext cx="4953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82831" y="3700462"/>
            <a:ext cx="50482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63856" y="3700462"/>
            <a:ext cx="4572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97256" y="3700462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11331" y="4291012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0931" y="4291012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78131" y="4291012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35331" y="4291012"/>
            <a:ext cx="10001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11331" y="4833937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87631" y="4833937"/>
            <a:ext cx="118110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11331" y="5100637"/>
            <a:ext cx="1076325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361950" cy="28575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1500" y="2138362"/>
          <a:ext cx="11029948" cy="3352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08895"/>
                <a:gridCol w="4411860"/>
                <a:gridCol w="3309193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oppins"/>
                        </a:rPr>
                        <a:t>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oppins"/>
                        </a:rPr>
                        <a:t>Core Focus Areas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oppins"/>
                        </a:rPr>
                        <a:t>Key Technologies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1. Foundation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 Programming, Logic Gates, Registers, Computer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2. Core Embedded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MCU Architecture, Inputs/Outputs, Hardware Interrupts &amp; Timers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3. Communication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Chip-to-chip &amp; peripheral communication protocols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4. Advanced &amp;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Real-time scheduling, OS drivers, Oscilloscopes, Debugging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47750" y="476250"/>
            <a:ext cx="111442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Skills Matrix for Freshers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6581" y="2881312"/>
            <a:ext cx="800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C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8131" y="2881312"/>
            <a:ext cx="733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Git/GitHub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6581" y="31480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Digital Circuits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6581" y="3738562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GPIO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8081" y="3738562"/>
            <a:ext cx="409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PWM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9106" y="3738562"/>
            <a:ext cx="361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ADC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2506" y="3738562"/>
            <a:ext cx="514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Timers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6581" y="4329112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Inter"/>
              </a:rPr>
              <a:t>UART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6181" y="4329112"/>
            <a:ext cx="285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Inter"/>
              </a:rPr>
              <a:t>SPI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3381" y="4329112"/>
            <a:ext cx="285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Inter"/>
              </a:rPr>
              <a:t>I²C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0581" y="4329112"/>
            <a:ext cx="904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Inter"/>
              </a:rPr>
              <a:t>CAN Protocol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6581" y="4872037"/>
            <a:ext cx="704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FreeRTOS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881" y="4872037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Embedded Linux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6581" y="5138737"/>
            <a:ext cx="981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GDB Debugger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95500"/>
            <a:ext cx="5334000" cy="3248025"/>
          </a:xfrm>
          <a:prstGeom prst="roundRect">
            <a:avLst>
              <a:gd name="adj" fmla="val 35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464397"/>
            <a:ext cx="5334000" cy="939105"/>
          </a:xfrm>
          <a:prstGeom prst="roundRect">
            <a:avLst>
              <a:gd name="adj" fmla="val 8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28575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26022"/>
            <a:ext cx="5334000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235547"/>
            <a:ext cx="5314950" cy="2076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409825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805112"/>
            <a:ext cx="1047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319462"/>
            <a:ext cx="1047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576637"/>
            <a:ext cx="1047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090987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605337"/>
            <a:ext cx="1047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550" y="476250"/>
            <a:ext cx="11220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Job Roles &amp; Industry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2362200"/>
            <a:ext cx="4790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oppins"/>
              </a:rPr>
              <a:t>Major Engineering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616797"/>
            <a:ext cx="5753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KEY TARGET INDUSTRIES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854922"/>
            <a:ext cx="51244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Automotive • Robotics • Consumer Electronics • IoT • Industrial Automation • Medical Devices • Aerospace • Telecom •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762250"/>
            <a:ext cx="4895850" cy="51435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Embedded Firmware Engineer: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Develops MCU low-level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276600"/>
            <a:ext cx="6000750" cy="257175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Hardware Engineer: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Circuit design &amp; PCB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533775"/>
            <a:ext cx="4895850" cy="51435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Automotive Embedded Engineer: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EV, ECU &amp; ADAS platforms.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048125"/>
            <a:ext cx="4895850" cy="51435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Device Driver Developer: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OS-to-hardware communication.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562475"/>
            <a:ext cx="4895850" cy="51435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IoT &amp; Robotics Engineer: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Connected autonomous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957387"/>
            <a:ext cx="8572500" cy="1562100"/>
          </a:xfrm>
          <a:prstGeom prst="roundRect">
            <a:avLst>
              <a:gd name="adj" fmla="val 7317"/>
            </a:avLst>
          </a:prstGeom>
          <a:solidFill>
            <a:srgbClr val="F0F9FF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9750" y="3757612"/>
            <a:ext cx="8572500" cy="1400175"/>
          </a:xfrm>
          <a:prstGeom prst="roundRect">
            <a:avLst>
              <a:gd name="adj" fmla="val 6802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9750" y="3757612"/>
            <a:ext cx="57150" cy="1400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3238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825" y="269081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987" y="297656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62" y="297656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287" y="297656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6137" y="5510212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037" y="5510212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662" y="5510212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476250"/>
            <a:ext cx="111823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Core Strategy for ECE Freshers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346" y="2262187"/>
            <a:ext cx="1045130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Poppins"/>
              </a:rPr>
              <a:t>The Golden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9187" y="2643187"/>
            <a:ext cx="9953625" cy="5715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"Don't aim to learn every technology immediately. Build strong fundamentals make projects debug them learn deeper specialize."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995737"/>
            <a:ext cx="981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THE CORE EQUATION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291012"/>
            <a:ext cx="9810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8BDF8"/>
                </a:solidFill>
                <a:latin typeface="Poppins"/>
              </a:rPr>
              <a:t>EMBEDDED SYSTEMS = ELECTRONICS + SOFTWARE + REAL-WORLD PROBLEM SOLVING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91162"/>
            <a:ext cx="1857375" cy="180975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Focus on C &amp;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584" y="5491162"/>
            <a:ext cx="1964531" cy="180975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Pick 1 MCU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5637" y="5491162"/>
            <a:ext cx="2000250" cy="180975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Document on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5765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3480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38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338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10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10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90912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48162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205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726531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https://www.wonderfulpcb.com/wp-content/uploads/2025/10/a96680c422d94e87afe1695685468685.jpg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959893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www.wonderfulpcb.com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3498056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https://circuitdigest.com/sites/default/files/projectimage_mic/Bluetooth-Controlled%20Robotic%20Arm%20Car%20using%20Arduino%20Uno.jpg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731418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circuitdigest.com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262437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https://static.wixstatic.com/media/b9cef4_3120e758f4f1432ead016673e5485a92~mv2.jpg/v1/fill/w_1000,h_667,al_c,q_85,usm_0.66_1.00_0.01/b9cef4_3120e758f4f1432ead016673e5485a92~mv2.jpg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4681537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www.projectmanagertemplate.com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