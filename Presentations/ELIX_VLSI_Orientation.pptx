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05156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4028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42900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66344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461772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85216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580644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233172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6258" y="2975458"/>
            <a:ext cx="724205" cy="724205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4330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9044330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0651" y="2643530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44200" y="2643530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Shape 16"/>
          <p:cNvSpPr/>
          <p:nvPr/>
        </p:nvSpPr>
        <p:spPr>
          <a:xfrm>
            <a:off x="9446666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9446666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0651" y="3045866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44200" y="3045866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9849002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3" name="Shape 21"/>
          <p:cNvSpPr/>
          <p:nvPr/>
        </p:nvSpPr>
        <p:spPr>
          <a:xfrm>
            <a:off x="9849002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0651" y="3448202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3448202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51338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51338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0651" y="3850538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44200" y="3850538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2651760"/>
            <a:ext cx="1371600" cy="1371600"/>
          </a:xfrm>
          <a:prstGeom prst="ellipse">
            <a:avLst/>
          </a:prstGeom>
          <a:solidFill>
            <a:srgbClr val="FFB627">
              <a:alpha val="1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23317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VLSI: Getting Started</a:t>
            </a:r>
            <a:endParaRPr lang="en-US" sz="46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quick-start orientation for freshers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58368" y="3931920"/>
            <a:ext cx="457200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• IIIT Kottayam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VLSI Matters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(Very Large Scale Integration)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art of packing billions of transistors onto a single chip. It's the invisible engine behind every phone, laptop, car, and AI system — and one of the most in-demand engineering skills today.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3220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265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875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175875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156197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7111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506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6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156197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207111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phone, car, laptop and IoT device runs on chips someone designed.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2112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157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767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767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089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Shape 24"/>
          <p:cNvSpPr/>
          <p:nvPr/>
        </p:nvSpPr>
        <p:spPr>
          <a:xfrm>
            <a:off x="486003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469398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9398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9" name="Shape 27"/>
          <p:cNvSpPr/>
          <p:nvPr/>
        </p:nvSpPr>
        <p:spPr>
          <a:xfrm>
            <a:off x="435089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6003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talent is short-staffed worldwide — strong placement &amp; internship pull.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1004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5049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659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Shape 35"/>
          <p:cNvSpPr/>
          <p:nvPr/>
        </p:nvSpPr>
        <p:spPr>
          <a:xfrm>
            <a:off x="733659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981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9" name="Shape 37"/>
          <p:cNvSpPr/>
          <p:nvPr/>
        </p:nvSpPr>
        <p:spPr>
          <a:xfrm>
            <a:off x="764895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0" name="Shape 38"/>
          <p:cNvSpPr/>
          <p:nvPr/>
        </p:nvSpPr>
        <p:spPr>
          <a:xfrm>
            <a:off x="748290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1" name="Shape 39"/>
          <p:cNvSpPr/>
          <p:nvPr/>
        </p:nvSpPr>
        <p:spPr>
          <a:xfrm>
            <a:off x="748290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981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3" name="Shape 41"/>
          <p:cNvSpPr/>
          <p:nvPr/>
        </p:nvSpPr>
        <p:spPr>
          <a:xfrm>
            <a:off x="764895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636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Investing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629107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Semiconductor Mission is building fabs &amp; design hubs across the country.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1540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99896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3941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2551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2551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1" name="Shape 49"/>
          <p:cNvSpPr/>
          <p:nvPr/>
        </p:nvSpPr>
        <p:spPr>
          <a:xfrm>
            <a:off x="992873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3787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7182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7182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992873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43787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05256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&amp; Rewarding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907999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physics, logic, coding and problem-solving — rarely boring.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HEADED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in VLSI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demand is exploding — AI chips, electric vehicles, 5G/6G, and India's own fab ecosystem all need designers.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data-center chips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9077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&amp; automotive electronics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381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Semiconductor Mission — new fabs &amp; design centers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0A11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ROLES TO EXPLORE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78892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3563" y="2905963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1981" y="273039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1981" y="315468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7998" y="289438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289438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3901" y="273039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3901" y="315468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7998" y="301630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301630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266090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/ Design Engineer
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logic (Verilog/VHDL)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575304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3563" y="3692347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1981" y="351678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1981" y="3941064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1" name="Shape 29"/>
          <p:cNvSpPr/>
          <p:nvPr/>
        </p:nvSpPr>
        <p:spPr>
          <a:xfrm>
            <a:off x="6387998" y="368076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2280" y="368076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3901" y="351678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3901" y="3941064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7998" y="380268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12280" y="380268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95160" y="34472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Engineer
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bugs before fabrication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46520" y="4361688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3563" y="4478731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51981" y="4303166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51981" y="472744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7998" y="446714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3" name="Shape 41"/>
          <p:cNvSpPr/>
          <p:nvPr/>
        </p:nvSpPr>
        <p:spPr>
          <a:xfrm>
            <a:off x="6812280" y="446714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4" name="Shape 42"/>
          <p:cNvSpPr/>
          <p:nvPr/>
        </p:nvSpPr>
        <p:spPr>
          <a:xfrm>
            <a:off x="6673901" y="4303166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5" name="Shape 43"/>
          <p:cNvSpPr/>
          <p:nvPr/>
        </p:nvSpPr>
        <p:spPr>
          <a:xfrm>
            <a:off x="6673901" y="472744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6" name="Shape 44"/>
          <p:cNvSpPr/>
          <p:nvPr/>
        </p:nvSpPr>
        <p:spPr>
          <a:xfrm>
            <a:off x="6387998" y="458906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458906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95160" y="42336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Engineer
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&amp; routes on silicon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446520" y="5148072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63563" y="5265115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51981" y="508955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2" name="Shape 50"/>
          <p:cNvSpPr/>
          <p:nvPr/>
        </p:nvSpPr>
        <p:spPr>
          <a:xfrm>
            <a:off x="6551981" y="551383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7998" y="525353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6812280" y="525353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6673901" y="508955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6673901" y="551383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Shape 55"/>
          <p:cNvSpPr/>
          <p:nvPr/>
        </p:nvSpPr>
        <p:spPr>
          <a:xfrm>
            <a:off x="6387998" y="537545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8" name="Shape 56"/>
          <p:cNvSpPr/>
          <p:nvPr/>
        </p:nvSpPr>
        <p:spPr>
          <a:xfrm>
            <a:off x="6812280" y="537545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995160" y="50200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Analog/Mixed-Signal Designer
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real-world-facing circuits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Freshers Focus 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everything on day one. Build up steadily, year by year.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48256" y="2670048"/>
            <a:ext cx="8092440" cy="0"/>
          </a:xfrm>
          <a:prstGeom prst="line">
            <a:avLst/>
          </a:prstGeom>
          <a:noFill/>
          <a:ln w="25400">
            <a:solidFill>
              <a:srgbClr val="D7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5554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Base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554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554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logic, C programming, discrete math, strong problem-solving fundamentals.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8843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5302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302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Foundations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302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302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design, computer architecture, and learn Verilog/VHDL hands-on.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5119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5119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591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5050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050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5050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050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track — design, verification, or physical design. Internships &amp; tapeout programs.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48672" y="2478024"/>
            <a:ext cx="384048" cy="384048"/>
          </a:xfrm>
          <a:prstGeom prst="ellipse">
            <a:avLst/>
          </a:prstGeom>
          <a:solidFill>
            <a:srgbClr val="FFB6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4867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8339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04798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4798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&amp; Apply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04798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4798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electives, open-source silicon projects, research, placements.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to Develop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buckets to grow in, at your own pace.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07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97307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44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547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47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844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6304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SUBJECTS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12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12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electronics &amp; semiconductor physics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" y="553212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4128" y="535838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 &amp; Boolean algebra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4456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639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639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141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4" name="Shape 32"/>
          <p:cNvSpPr/>
          <p:nvPr/>
        </p:nvSpPr>
        <p:spPr>
          <a:xfrm>
            <a:off x="500176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79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Shape 34"/>
          <p:cNvSpPr/>
          <p:nvPr/>
        </p:nvSpPr>
        <p:spPr>
          <a:xfrm>
            <a:off x="482879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Shape 35"/>
          <p:cNvSpPr/>
          <p:nvPr/>
        </p:nvSpPr>
        <p:spPr>
          <a:xfrm>
            <a:off x="447141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8" name="Shape 36"/>
          <p:cNvSpPr/>
          <p:nvPr/>
        </p:nvSpPr>
        <p:spPr>
          <a:xfrm>
            <a:off x="500176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16636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TOOLS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0799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2744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/ VHDL (HDL coding)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0799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2744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Python for scripting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0799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2744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command-line basics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507992" y="553212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27448" y="535838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5528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4788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9419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7971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837971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817473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870508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853211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Shape 55"/>
          <p:cNvSpPr/>
          <p:nvPr/>
        </p:nvSpPr>
        <p:spPr>
          <a:xfrm>
            <a:off x="853211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8" name="Shape 56"/>
          <p:cNvSpPr/>
          <p:nvPr/>
        </p:nvSpPr>
        <p:spPr>
          <a:xfrm>
            <a:off x="817473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9" name="Shape 57"/>
          <p:cNvSpPr/>
          <p:nvPr/>
        </p:nvSpPr>
        <p:spPr>
          <a:xfrm>
            <a:off x="870508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86968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RESOURCES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821131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1131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43076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NPTEL / Coursera VLSI courses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21131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43076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tools: Yosys, OpenLane, Icarus Verilog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43076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personal projects on GitHub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211312" y="553212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430768" y="535838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practice over last-minute cramming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48502" y="1825142"/>
            <a:ext cx="510235" cy="510235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551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" name="Shape 3"/>
          <p:cNvSpPr/>
          <p:nvPr/>
        </p:nvSpPr>
        <p:spPr>
          <a:xfrm>
            <a:off x="568551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" name="Shape 4"/>
          <p:cNvSpPr/>
          <p:nvPr/>
        </p:nvSpPr>
        <p:spPr>
          <a:xfrm>
            <a:off x="5168189" y="166215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66215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8" name="Shape 6"/>
          <p:cNvSpPr/>
          <p:nvPr/>
        </p:nvSpPr>
        <p:spPr>
          <a:xfrm>
            <a:off x="603984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Shape 7"/>
          <p:cNvSpPr/>
          <p:nvPr/>
        </p:nvSpPr>
        <p:spPr>
          <a:xfrm>
            <a:off x="603984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5168189" y="201648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01648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9417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9417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5168189" y="237081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2280" y="237081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175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Chips Around You Didn't Design Themselves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718304" y="3794760"/>
            <a:ext cx="2743200" cy="0"/>
          </a:xfrm>
          <a:prstGeom prst="line">
            <a:avLst/>
          </a:prstGeom>
          <a:noFill/>
          <a:ln w="12700">
            <a:solidFill>
              <a:srgbClr val="00B8A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sat down, learned the basics, and built them — that someone could be you.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one together.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• IIIT Kottayam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2026-09-18T05:57:41Z</dcterms:created>
  <dcterms:modified xsi:type="dcterms:W3CDTF">2026-09-18T05:57:41Z</dcterms:modified>
</cp:coreProperties>
</file>