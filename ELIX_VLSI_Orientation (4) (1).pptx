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145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6949440" cy="0"/>
          </a:xfrm>
          <a:prstGeom prst="line">
            <a:avLst/>
          </a:prstGeom>
          <a:noFill/>
          <a:ln w="12700">
            <a:solidFill>
              <a:srgbClr val="00B8A9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051560"/>
            <a:ext cx="91440" cy="91440"/>
          </a:xfrm>
          <a:prstGeom prst="ellipse">
            <a:avLst/>
          </a:prstGeom>
          <a:solidFill>
            <a:srgbClr val="00B8A9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286000"/>
            <a:ext cx="6949440" cy="0"/>
          </a:xfrm>
          <a:prstGeom prst="line">
            <a:avLst/>
          </a:prstGeom>
          <a:noFill/>
          <a:ln w="12700">
            <a:solidFill>
              <a:srgbClr val="00B8A9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240280"/>
            <a:ext cx="91440" cy="91440"/>
          </a:xfrm>
          <a:prstGeom prst="ellipse">
            <a:avLst/>
          </a:prstGeom>
          <a:solidFill>
            <a:srgbClr val="00B8A9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474720"/>
            <a:ext cx="6949440" cy="0"/>
          </a:xfrm>
          <a:prstGeom prst="line">
            <a:avLst/>
          </a:prstGeom>
          <a:noFill/>
          <a:ln w="12700">
            <a:solidFill>
              <a:srgbClr val="00B8A9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3429000"/>
            <a:ext cx="91440" cy="91440"/>
          </a:xfrm>
          <a:prstGeom prst="ellipse">
            <a:avLst/>
          </a:prstGeom>
          <a:solidFill>
            <a:srgbClr val="00B8A9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663440"/>
            <a:ext cx="6949440" cy="0"/>
          </a:xfrm>
          <a:prstGeom prst="line">
            <a:avLst/>
          </a:prstGeom>
          <a:noFill/>
          <a:ln w="12700">
            <a:solidFill>
              <a:srgbClr val="00B8A9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4617720"/>
            <a:ext cx="91440" cy="91440"/>
          </a:xfrm>
          <a:prstGeom prst="ellipse">
            <a:avLst/>
          </a:prstGeom>
          <a:solidFill>
            <a:srgbClr val="00B8A9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5852160"/>
            <a:ext cx="6949440" cy="0"/>
          </a:xfrm>
          <a:prstGeom prst="line">
            <a:avLst/>
          </a:prstGeom>
          <a:noFill/>
          <a:ln w="12700">
            <a:solidFill>
              <a:srgbClr val="00B8A9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0" y="5806440"/>
            <a:ext cx="91440" cy="91440"/>
          </a:xfrm>
          <a:prstGeom prst="ellipse">
            <a:avLst/>
          </a:prstGeom>
          <a:solidFill>
            <a:srgbClr val="00B8A9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732520" y="2331720"/>
            <a:ext cx="2011680" cy="2011680"/>
          </a:xfrm>
          <a:prstGeom prst="roundRect">
            <a:avLst>
              <a:gd name="adj" fmla="val 8000"/>
            </a:avLst>
          </a:prstGeom>
          <a:solidFill>
            <a:srgbClr val="13234A"/>
          </a:solidFill>
          <a:ln w="19050">
            <a:solidFill>
              <a:srgbClr val="00B8A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76258" y="2975458"/>
            <a:ext cx="724205" cy="724205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44330" y="2009851"/>
            <a:ext cx="181051" cy="321869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5" name="Shape 13"/>
          <p:cNvSpPr/>
          <p:nvPr/>
        </p:nvSpPr>
        <p:spPr>
          <a:xfrm>
            <a:off x="9044330" y="4343400"/>
            <a:ext cx="181051" cy="321869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0651" y="2643530"/>
            <a:ext cx="321869" cy="181051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44200" y="2643530"/>
            <a:ext cx="321869" cy="181051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8" name="Shape 16"/>
          <p:cNvSpPr/>
          <p:nvPr/>
        </p:nvSpPr>
        <p:spPr>
          <a:xfrm>
            <a:off x="9446666" y="2009851"/>
            <a:ext cx="181051" cy="321869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9" name="Shape 17"/>
          <p:cNvSpPr/>
          <p:nvPr/>
        </p:nvSpPr>
        <p:spPr>
          <a:xfrm>
            <a:off x="9446666" y="4343400"/>
            <a:ext cx="181051" cy="321869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0" name="Shape 18"/>
          <p:cNvSpPr/>
          <p:nvPr/>
        </p:nvSpPr>
        <p:spPr>
          <a:xfrm>
            <a:off x="8410651" y="3045866"/>
            <a:ext cx="321869" cy="181051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1" name="Shape 19"/>
          <p:cNvSpPr/>
          <p:nvPr/>
        </p:nvSpPr>
        <p:spPr>
          <a:xfrm>
            <a:off x="10744200" y="3045866"/>
            <a:ext cx="321869" cy="181051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2" name="Shape 20"/>
          <p:cNvSpPr/>
          <p:nvPr/>
        </p:nvSpPr>
        <p:spPr>
          <a:xfrm>
            <a:off x="9849002" y="2009851"/>
            <a:ext cx="181051" cy="321869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3" name="Shape 21"/>
          <p:cNvSpPr/>
          <p:nvPr/>
        </p:nvSpPr>
        <p:spPr>
          <a:xfrm>
            <a:off x="9849002" y="4343400"/>
            <a:ext cx="181051" cy="321869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4" name="Shape 22"/>
          <p:cNvSpPr/>
          <p:nvPr/>
        </p:nvSpPr>
        <p:spPr>
          <a:xfrm>
            <a:off x="8410651" y="3448202"/>
            <a:ext cx="321869" cy="181051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5" name="Shape 23"/>
          <p:cNvSpPr/>
          <p:nvPr/>
        </p:nvSpPr>
        <p:spPr>
          <a:xfrm>
            <a:off x="10744200" y="3448202"/>
            <a:ext cx="321869" cy="181051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6" name="Shape 24"/>
          <p:cNvSpPr/>
          <p:nvPr/>
        </p:nvSpPr>
        <p:spPr>
          <a:xfrm>
            <a:off x="10251338" y="2009851"/>
            <a:ext cx="181051" cy="321869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7" name="Shape 25"/>
          <p:cNvSpPr/>
          <p:nvPr/>
        </p:nvSpPr>
        <p:spPr>
          <a:xfrm>
            <a:off x="10251338" y="4343400"/>
            <a:ext cx="181051" cy="321869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8" name="Shape 26"/>
          <p:cNvSpPr/>
          <p:nvPr/>
        </p:nvSpPr>
        <p:spPr>
          <a:xfrm>
            <a:off x="8410651" y="3850538"/>
            <a:ext cx="321869" cy="181051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9" name="Shape 27"/>
          <p:cNvSpPr/>
          <p:nvPr/>
        </p:nvSpPr>
        <p:spPr>
          <a:xfrm>
            <a:off x="10744200" y="3850538"/>
            <a:ext cx="321869" cy="181051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0" name="Shape 28"/>
          <p:cNvSpPr/>
          <p:nvPr/>
        </p:nvSpPr>
        <p:spPr>
          <a:xfrm>
            <a:off x="9052560" y="2651760"/>
            <a:ext cx="1371600" cy="1371600"/>
          </a:xfrm>
          <a:prstGeom prst="ellipse">
            <a:avLst/>
          </a:prstGeom>
          <a:solidFill>
            <a:srgbClr val="FFB627">
              <a:alpha val="10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8368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ELIX CLUB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233172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VLSI: Getting Started</a:t>
            </a:r>
            <a:endParaRPr lang="en-US" sz="4600" dirty="0"/>
          </a:p>
        </p:txBody>
      </p:sp>
      <p:sp>
        <p:nvSpPr>
          <p:cNvPr id="33" name="Text 31"/>
          <p:cNvSpPr txBox="1"/>
          <p:nvPr/>
        </p:nvSpPr>
        <p:spPr>
          <a:xfrm>
            <a:off x="658368" y="32918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quick-start orientation for freshers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658368" y="3931920"/>
            <a:ext cx="457200" cy="36576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8368" y="40690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ELIX Club • IIIT Kottayam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ELIX Club — VLSI Orientation — IIIT Kottayam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VLSI Matters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57971" y="15544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VLSI (Very Large Scale Integration) </a:t>
            </a:r>
            <a:r>
              <a:rPr lang="en-US" sz="14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art of packing billions of transistors onto a single chip. It's the invisible engine behind every phone, laptop, car, and AI system — and one of the most in-demand engineering skills today.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32204" y="3017520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3234A"/>
          </a:solidFill>
          <a:ln w="19050">
            <a:solidFill>
              <a:srgbClr val="00B8A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72656" y="3157972"/>
            <a:ext cx="158008" cy="15800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58757" y="2947294"/>
            <a:ext cx="39502" cy="7022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1" name="Shape 9"/>
          <p:cNvSpPr/>
          <p:nvPr/>
        </p:nvSpPr>
        <p:spPr>
          <a:xfrm>
            <a:off x="1758757" y="3456432"/>
            <a:ext cx="39502" cy="7022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2" name="Shape 10"/>
          <p:cNvSpPr/>
          <p:nvPr/>
        </p:nvSpPr>
        <p:spPr>
          <a:xfrm>
            <a:off x="1561978" y="3144073"/>
            <a:ext cx="70226" cy="3950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3" name="Shape 11"/>
          <p:cNvSpPr/>
          <p:nvPr/>
        </p:nvSpPr>
        <p:spPr>
          <a:xfrm>
            <a:off x="2071116" y="3144073"/>
            <a:ext cx="70226" cy="3950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4" name="Shape 12"/>
          <p:cNvSpPr/>
          <p:nvPr/>
        </p:nvSpPr>
        <p:spPr>
          <a:xfrm>
            <a:off x="1905061" y="2947294"/>
            <a:ext cx="39502" cy="7022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5" name="Shape 13"/>
          <p:cNvSpPr/>
          <p:nvPr/>
        </p:nvSpPr>
        <p:spPr>
          <a:xfrm>
            <a:off x="1905061" y="3456432"/>
            <a:ext cx="39502" cy="7022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6" name="Shape 14"/>
          <p:cNvSpPr/>
          <p:nvPr/>
        </p:nvSpPr>
        <p:spPr>
          <a:xfrm>
            <a:off x="1561978" y="3290377"/>
            <a:ext cx="70226" cy="3950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7" name="Shape 15"/>
          <p:cNvSpPr/>
          <p:nvPr/>
        </p:nvSpPr>
        <p:spPr>
          <a:xfrm>
            <a:off x="2071116" y="3290377"/>
            <a:ext cx="70226" cy="3950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Everywhere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3977640"/>
            <a:ext cx="2276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phone, car, laptop and IoT device runs on chips someone designed.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37560" y="274320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21124" y="3017520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E4620"/>
          </a:solidFill>
          <a:ln w="19050">
            <a:solidFill>
              <a:srgbClr val="00B8A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61576" y="3157972"/>
            <a:ext cx="158008" cy="15800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47677" y="2947294"/>
            <a:ext cx="39502" cy="7022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4" name="Shape 22"/>
          <p:cNvSpPr/>
          <p:nvPr/>
        </p:nvSpPr>
        <p:spPr>
          <a:xfrm>
            <a:off x="4547677" y="3456432"/>
            <a:ext cx="39502" cy="7022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0898" y="3144073"/>
            <a:ext cx="70226" cy="3950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6" name="Shape 24"/>
          <p:cNvSpPr/>
          <p:nvPr/>
        </p:nvSpPr>
        <p:spPr>
          <a:xfrm>
            <a:off x="4860036" y="3144073"/>
            <a:ext cx="70226" cy="3950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7" name="Shape 25"/>
          <p:cNvSpPr/>
          <p:nvPr/>
        </p:nvSpPr>
        <p:spPr>
          <a:xfrm>
            <a:off x="4693981" y="2947294"/>
            <a:ext cx="39502" cy="7022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8" name="Shape 26"/>
          <p:cNvSpPr/>
          <p:nvPr/>
        </p:nvSpPr>
        <p:spPr>
          <a:xfrm>
            <a:off x="4693981" y="3456432"/>
            <a:ext cx="39502" cy="7022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9" name="Shape 27"/>
          <p:cNvSpPr/>
          <p:nvPr/>
        </p:nvSpPr>
        <p:spPr>
          <a:xfrm>
            <a:off x="4350898" y="3290377"/>
            <a:ext cx="70226" cy="3950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0" name="Shape 28"/>
          <p:cNvSpPr/>
          <p:nvPr/>
        </p:nvSpPr>
        <p:spPr>
          <a:xfrm>
            <a:off x="4860036" y="3290377"/>
            <a:ext cx="70226" cy="3950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474720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Demand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3502152" y="3977640"/>
            <a:ext cx="2276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design talent is short-staffed worldwide — strong placement &amp; internship pull.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26480" y="274320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10044" y="3017520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3234A"/>
          </a:solidFill>
          <a:ln w="19050">
            <a:solidFill>
              <a:srgbClr val="00B8A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50496" y="3157972"/>
            <a:ext cx="158008" cy="15800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36597" y="2947294"/>
            <a:ext cx="39502" cy="7022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7" name="Shape 35"/>
          <p:cNvSpPr/>
          <p:nvPr/>
        </p:nvSpPr>
        <p:spPr>
          <a:xfrm>
            <a:off x="7336597" y="3456432"/>
            <a:ext cx="39502" cy="7022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8" name="Shape 36"/>
          <p:cNvSpPr/>
          <p:nvPr/>
        </p:nvSpPr>
        <p:spPr>
          <a:xfrm>
            <a:off x="7139818" y="3144073"/>
            <a:ext cx="70226" cy="3950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9" name="Shape 37"/>
          <p:cNvSpPr/>
          <p:nvPr/>
        </p:nvSpPr>
        <p:spPr>
          <a:xfrm>
            <a:off x="7648956" y="3144073"/>
            <a:ext cx="70226" cy="3950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0" name="Shape 38"/>
          <p:cNvSpPr/>
          <p:nvPr/>
        </p:nvSpPr>
        <p:spPr>
          <a:xfrm>
            <a:off x="7482901" y="2947294"/>
            <a:ext cx="39502" cy="7022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1" name="Shape 39"/>
          <p:cNvSpPr/>
          <p:nvPr/>
        </p:nvSpPr>
        <p:spPr>
          <a:xfrm>
            <a:off x="7482901" y="3456432"/>
            <a:ext cx="39502" cy="7022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2" name="Shape 40"/>
          <p:cNvSpPr/>
          <p:nvPr/>
        </p:nvSpPr>
        <p:spPr>
          <a:xfrm>
            <a:off x="7139818" y="3290377"/>
            <a:ext cx="70226" cy="3950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3" name="Shape 41"/>
          <p:cNvSpPr/>
          <p:nvPr/>
        </p:nvSpPr>
        <p:spPr>
          <a:xfrm>
            <a:off x="7648956" y="3290377"/>
            <a:ext cx="70226" cy="3950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263640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Is Investing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6291072" y="3977640"/>
            <a:ext cx="2276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Semiconductor Mission is building fabs &amp; design hubs across the country.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915400" y="274320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9998964" y="3017520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E4620"/>
          </a:solidFill>
          <a:ln w="19050">
            <a:solidFill>
              <a:srgbClr val="00B8A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139416" y="3157972"/>
            <a:ext cx="158008" cy="15800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125517" y="2947294"/>
            <a:ext cx="39502" cy="7022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0" name="Shape 48"/>
          <p:cNvSpPr/>
          <p:nvPr/>
        </p:nvSpPr>
        <p:spPr>
          <a:xfrm>
            <a:off x="10125517" y="3456432"/>
            <a:ext cx="39502" cy="7022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1" name="Shape 49"/>
          <p:cNvSpPr/>
          <p:nvPr/>
        </p:nvSpPr>
        <p:spPr>
          <a:xfrm>
            <a:off x="9928738" y="3144073"/>
            <a:ext cx="70226" cy="3950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2" name="Shape 50"/>
          <p:cNvSpPr/>
          <p:nvPr/>
        </p:nvSpPr>
        <p:spPr>
          <a:xfrm>
            <a:off x="10437876" y="3144073"/>
            <a:ext cx="70226" cy="3950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3" name="Shape 51"/>
          <p:cNvSpPr/>
          <p:nvPr/>
        </p:nvSpPr>
        <p:spPr>
          <a:xfrm>
            <a:off x="10271821" y="2947294"/>
            <a:ext cx="39502" cy="7022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4" name="Shape 52"/>
          <p:cNvSpPr/>
          <p:nvPr/>
        </p:nvSpPr>
        <p:spPr>
          <a:xfrm>
            <a:off x="10271821" y="3456432"/>
            <a:ext cx="39502" cy="70226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5" name="Shape 53"/>
          <p:cNvSpPr/>
          <p:nvPr/>
        </p:nvSpPr>
        <p:spPr>
          <a:xfrm>
            <a:off x="9928738" y="3290377"/>
            <a:ext cx="70226" cy="3950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6" name="Shape 54"/>
          <p:cNvSpPr/>
          <p:nvPr/>
        </p:nvSpPr>
        <p:spPr>
          <a:xfrm>
            <a:off x="10437876" y="3290377"/>
            <a:ext cx="70226" cy="3950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052560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&amp; Rewarding</a:t>
            </a:r>
            <a:endParaRPr lang="en-US" sz="1350" dirty="0"/>
          </a:p>
        </p:txBody>
      </p:sp>
      <p:sp>
        <p:nvSpPr>
          <p:cNvPr id="58" name="Text 56"/>
          <p:cNvSpPr txBox="1"/>
          <p:nvPr/>
        </p:nvSpPr>
        <p:spPr>
          <a:xfrm>
            <a:off x="9079992" y="3977640"/>
            <a:ext cx="2276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Blends physics, logic, coding and problem-solving — rarely boring.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ELIX Club — VLSI Orientation — IIIT Kottayam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IT'S HEADED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 in VLSI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 demand is exploding — AI chips, electric vehicles, 5G/6G, and India's own fab ecosystem all need designers.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DRIVERS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91440" cy="9144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377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data-center chips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91440" cy="9144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" y="290779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dirty="0"/>
              <a:t>IoT &amp; edge-AI devices 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93592"/>
            <a:ext cx="91440" cy="9144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343814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Semiconductor Mission — new fabs &amp; design centers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2103120"/>
            <a:ext cx="5486400" cy="3931920"/>
          </a:xfrm>
          <a:prstGeom prst="roundRect">
            <a:avLst>
              <a:gd name="adj" fmla="val 2326"/>
            </a:avLst>
          </a:prstGeom>
          <a:solidFill>
            <a:srgbClr val="0A112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2331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ROLES TO EXPLORE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2788920"/>
            <a:ext cx="365760" cy="365760"/>
          </a:xfrm>
          <a:prstGeom prst="roundRect">
            <a:avLst>
              <a:gd name="adj" fmla="val 8000"/>
            </a:avLst>
          </a:prstGeom>
          <a:solidFill>
            <a:srgbClr val="13234A"/>
          </a:solidFill>
          <a:ln w="19050">
            <a:solidFill>
              <a:srgbClr val="00B8A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63563" y="2905963"/>
            <a:ext cx="131674" cy="13167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51981" y="2730398"/>
            <a:ext cx="32918" cy="5852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9" name="Shape 17"/>
          <p:cNvSpPr/>
          <p:nvPr/>
        </p:nvSpPr>
        <p:spPr>
          <a:xfrm>
            <a:off x="6551981" y="3154680"/>
            <a:ext cx="32918" cy="5852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0" name="Shape 18"/>
          <p:cNvSpPr/>
          <p:nvPr/>
        </p:nvSpPr>
        <p:spPr>
          <a:xfrm>
            <a:off x="6387998" y="2894381"/>
            <a:ext cx="58522" cy="3291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1" name="Shape 19"/>
          <p:cNvSpPr/>
          <p:nvPr/>
        </p:nvSpPr>
        <p:spPr>
          <a:xfrm>
            <a:off x="6812280" y="2894381"/>
            <a:ext cx="58522" cy="3291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2" name="Shape 20"/>
          <p:cNvSpPr/>
          <p:nvPr/>
        </p:nvSpPr>
        <p:spPr>
          <a:xfrm>
            <a:off x="6673901" y="2730398"/>
            <a:ext cx="32918" cy="5852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3" name="Shape 21"/>
          <p:cNvSpPr/>
          <p:nvPr/>
        </p:nvSpPr>
        <p:spPr>
          <a:xfrm>
            <a:off x="6673901" y="3154680"/>
            <a:ext cx="32918" cy="5852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4" name="Shape 22"/>
          <p:cNvSpPr/>
          <p:nvPr/>
        </p:nvSpPr>
        <p:spPr>
          <a:xfrm>
            <a:off x="6387998" y="3016301"/>
            <a:ext cx="58522" cy="3291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5" name="Shape 23"/>
          <p:cNvSpPr/>
          <p:nvPr/>
        </p:nvSpPr>
        <p:spPr>
          <a:xfrm>
            <a:off x="6812280" y="3016301"/>
            <a:ext cx="58522" cy="3291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995160" y="2660904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/ Design Engineer
</a:t>
            </a:r>
            <a:r>
              <a:rPr lang="en-US" sz="1050" i="1" dirty="0">
                <a:solidFill>
                  <a:srgbClr val="AF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logic (Verilog/VHDL)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46520" y="3575304"/>
            <a:ext cx="365760" cy="365760"/>
          </a:xfrm>
          <a:prstGeom prst="roundRect">
            <a:avLst>
              <a:gd name="adj" fmla="val 8000"/>
            </a:avLst>
          </a:prstGeom>
          <a:solidFill>
            <a:srgbClr val="13234A"/>
          </a:solidFill>
          <a:ln w="19050">
            <a:solidFill>
              <a:srgbClr val="00B8A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63563" y="3692347"/>
            <a:ext cx="131674" cy="13167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51981" y="3516782"/>
            <a:ext cx="32918" cy="5852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0" name="Shape 28"/>
          <p:cNvSpPr/>
          <p:nvPr/>
        </p:nvSpPr>
        <p:spPr>
          <a:xfrm>
            <a:off x="6551981" y="3941064"/>
            <a:ext cx="32918" cy="5852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1" name="Shape 29"/>
          <p:cNvSpPr/>
          <p:nvPr/>
        </p:nvSpPr>
        <p:spPr>
          <a:xfrm>
            <a:off x="6387998" y="3680765"/>
            <a:ext cx="58522" cy="3291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2" name="Shape 30"/>
          <p:cNvSpPr/>
          <p:nvPr/>
        </p:nvSpPr>
        <p:spPr>
          <a:xfrm>
            <a:off x="6812280" y="3680765"/>
            <a:ext cx="58522" cy="3291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3" name="Shape 31"/>
          <p:cNvSpPr/>
          <p:nvPr/>
        </p:nvSpPr>
        <p:spPr>
          <a:xfrm>
            <a:off x="6673901" y="3516782"/>
            <a:ext cx="32918" cy="5852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4" name="Shape 32"/>
          <p:cNvSpPr/>
          <p:nvPr/>
        </p:nvSpPr>
        <p:spPr>
          <a:xfrm>
            <a:off x="6673901" y="3941064"/>
            <a:ext cx="32918" cy="5852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5" name="Shape 33"/>
          <p:cNvSpPr/>
          <p:nvPr/>
        </p:nvSpPr>
        <p:spPr>
          <a:xfrm>
            <a:off x="6387998" y="3802685"/>
            <a:ext cx="58522" cy="3291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6" name="Shape 34"/>
          <p:cNvSpPr/>
          <p:nvPr/>
        </p:nvSpPr>
        <p:spPr>
          <a:xfrm>
            <a:off x="6812280" y="3802685"/>
            <a:ext cx="58522" cy="3291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995160" y="344728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Engineer
</a:t>
            </a:r>
            <a:r>
              <a:rPr lang="en-US" sz="1050" i="1" dirty="0">
                <a:solidFill>
                  <a:srgbClr val="AF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hunts bugs before fabrication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446520" y="4361688"/>
            <a:ext cx="365760" cy="365760"/>
          </a:xfrm>
          <a:prstGeom prst="roundRect">
            <a:avLst>
              <a:gd name="adj" fmla="val 8000"/>
            </a:avLst>
          </a:prstGeom>
          <a:solidFill>
            <a:srgbClr val="13234A"/>
          </a:solidFill>
          <a:ln w="19050">
            <a:solidFill>
              <a:srgbClr val="00B8A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63563" y="4478731"/>
            <a:ext cx="131674" cy="13167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51981" y="4303166"/>
            <a:ext cx="32918" cy="5852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1" name="Shape 39"/>
          <p:cNvSpPr/>
          <p:nvPr/>
        </p:nvSpPr>
        <p:spPr>
          <a:xfrm>
            <a:off x="6551981" y="4727448"/>
            <a:ext cx="32918" cy="5852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2" name="Shape 40"/>
          <p:cNvSpPr/>
          <p:nvPr/>
        </p:nvSpPr>
        <p:spPr>
          <a:xfrm>
            <a:off x="6387998" y="4467149"/>
            <a:ext cx="58522" cy="3291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3" name="Shape 41"/>
          <p:cNvSpPr/>
          <p:nvPr/>
        </p:nvSpPr>
        <p:spPr>
          <a:xfrm>
            <a:off x="6812280" y="4467149"/>
            <a:ext cx="58522" cy="3291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4" name="Shape 42"/>
          <p:cNvSpPr/>
          <p:nvPr/>
        </p:nvSpPr>
        <p:spPr>
          <a:xfrm>
            <a:off x="6673901" y="4303166"/>
            <a:ext cx="32918" cy="5852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5" name="Shape 43"/>
          <p:cNvSpPr/>
          <p:nvPr/>
        </p:nvSpPr>
        <p:spPr>
          <a:xfrm>
            <a:off x="6673901" y="4727448"/>
            <a:ext cx="32918" cy="5852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6" name="Shape 44"/>
          <p:cNvSpPr/>
          <p:nvPr/>
        </p:nvSpPr>
        <p:spPr>
          <a:xfrm>
            <a:off x="6387998" y="4589069"/>
            <a:ext cx="58522" cy="3291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7" name="Shape 45"/>
          <p:cNvSpPr/>
          <p:nvPr/>
        </p:nvSpPr>
        <p:spPr>
          <a:xfrm>
            <a:off x="6812280" y="4589069"/>
            <a:ext cx="58522" cy="3291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995160" y="423367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Design Engineer
</a:t>
            </a:r>
            <a:r>
              <a:rPr lang="en-US" sz="1050" i="1" dirty="0">
                <a:solidFill>
                  <a:srgbClr val="AF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&amp; routes on silicon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6446520" y="5148072"/>
            <a:ext cx="365760" cy="365760"/>
          </a:xfrm>
          <a:prstGeom prst="roundRect">
            <a:avLst>
              <a:gd name="adj" fmla="val 8000"/>
            </a:avLst>
          </a:prstGeom>
          <a:solidFill>
            <a:srgbClr val="13234A"/>
          </a:solidFill>
          <a:ln w="19050">
            <a:solidFill>
              <a:srgbClr val="00B8A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63563" y="5265115"/>
            <a:ext cx="131674" cy="13167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51981" y="5089550"/>
            <a:ext cx="32918" cy="5852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2" name="Shape 50"/>
          <p:cNvSpPr/>
          <p:nvPr/>
        </p:nvSpPr>
        <p:spPr>
          <a:xfrm>
            <a:off x="6551981" y="5513832"/>
            <a:ext cx="32918" cy="5852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3" name="Shape 51"/>
          <p:cNvSpPr/>
          <p:nvPr/>
        </p:nvSpPr>
        <p:spPr>
          <a:xfrm>
            <a:off x="6387998" y="5253533"/>
            <a:ext cx="58522" cy="3291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4" name="Shape 52"/>
          <p:cNvSpPr/>
          <p:nvPr/>
        </p:nvSpPr>
        <p:spPr>
          <a:xfrm>
            <a:off x="6812280" y="5253533"/>
            <a:ext cx="58522" cy="3291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5" name="Shape 53"/>
          <p:cNvSpPr/>
          <p:nvPr/>
        </p:nvSpPr>
        <p:spPr>
          <a:xfrm>
            <a:off x="6673901" y="5089550"/>
            <a:ext cx="32918" cy="5852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6" name="Shape 54"/>
          <p:cNvSpPr/>
          <p:nvPr/>
        </p:nvSpPr>
        <p:spPr>
          <a:xfrm>
            <a:off x="6673901" y="5513832"/>
            <a:ext cx="32918" cy="5852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7" name="Shape 55"/>
          <p:cNvSpPr/>
          <p:nvPr/>
        </p:nvSpPr>
        <p:spPr>
          <a:xfrm>
            <a:off x="6387998" y="5375453"/>
            <a:ext cx="58522" cy="3291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8" name="Shape 56"/>
          <p:cNvSpPr/>
          <p:nvPr/>
        </p:nvSpPr>
        <p:spPr>
          <a:xfrm>
            <a:off x="6812280" y="5375453"/>
            <a:ext cx="58522" cy="3291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6995160" y="5020056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Analog/Mixed-Signal Designer
</a:t>
            </a:r>
            <a:r>
              <a:rPr lang="en-US" sz="1050" i="1" dirty="0">
                <a:solidFill>
                  <a:srgbClr val="AF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real-world-facing circuits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ELIX Club — VLSI Orientation — IIIT Kottayam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ROADMAP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Should Freshers Focus On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know everything on day one. Build up steadily, year by year.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048256" y="2670048"/>
            <a:ext cx="8092440" cy="0"/>
          </a:xfrm>
          <a:prstGeom prst="line">
            <a:avLst/>
          </a:prstGeom>
          <a:noFill/>
          <a:ln w="25400">
            <a:solidFill>
              <a:srgbClr val="D7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56232" y="2478024"/>
            <a:ext cx="384048" cy="384048"/>
          </a:xfrm>
          <a:prstGeom prst="ellipse">
            <a:avLst/>
          </a:prstGeom>
          <a:solidFill>
            <a:srgbClr val="00B8A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56232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0956" y="3063240"/>
            <a:ext cx="2514600" cy="27889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55548" y="320040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55548" y="3493008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Base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55548" y="3950208"/>
            <a:ext cx="2185416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5548" y="4114800"/>
            <a:ext cx="21854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logic, C programming, discrete math, strong problem-solving fundamentals.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53712" y="2478024"/>
            <a:ext cx="384048" cy="384048"/>
          </a:xfrm>
          <a:prstGeom prst="ellipse">
            <a:avLst/>
          </a:prstGeom>
          <a:solidFill>
            <a:srgbClr val="00B8A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53712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88436" y="3063240"/>
            <a:ext cx="2514600" cy="27889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653028" y="320040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653028" y="3493008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Foundations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3028" y="3950208"/>
            <a:ext cx="2185416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53028" y="4114800"/>
            <a:ext cx="21854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design, computer architecture, and learn Verilog/VHDL hands-on.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51192" y="2478024"/>
            <a:ext cx="384048" cy="384048"/>
          </a:xfrm>
          <a:prstGeom prst="ellipse">
            <a:avLst/>
          </a:prstGeom>
          <a:solidFill>
            <a:srgbClr val="00B8A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51192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85916" y="3063240"/>
            <a:ext cx="2514600" cy="27889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350508" y="320040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350508" y="3493008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350508" y="3950208"/>
            <a:ext cx="2185416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50508" y="4114800"/>
            <a:ext cx="21854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track — design, verification, or physical design. Internships &amp; tapeout programs.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948672" y="2478024"/>
            <a:ext cx="384048" cy="384048"/>
          </a:xfrm>
          <a:prstGeom prst="ellipse">
            <a:avLst/>
          </a:prstGeom>
          <a:solidFill>
            <a:srgbClr val="FFB6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948672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883396" y="3063240"/>
            <a:ext cx="2514600" cy="27889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047988" y="320040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047988" y="3493008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 &amp; Apply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9047988" y="3950208"/>
            <a:ext cx="2185416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047988" y="4114800"/>
            <a:ext cx="21854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electives, open-source silicon projects, research, placements.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ELIX Club — VLSI Orientation — IIIT Kottayam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UP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to Develop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simple buckets to grow in, at your own pace.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235000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3234A"/>
          </a:solidFill>
          <a:ln w="19050">
            <a:solidFill>
              <a:srgbClr val="00B8A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2496312"/>
            <a:ext cx="164592" cy="16459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3074" y="2276856"/>
            <a:ext cx="41148" cy="7315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1" name="Shape 9"/>
          <p:cNvSpPr/>
          <p:nvPr/>
        </p:nvSpPr>
        <p:spPr>
          <a:xfrm>
            <a:off x="973074" y="2807208"/>
            <a:ext cx="41148" cy="7315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2" name="Shape 10"/>
          <p:cNvSpPr/>
          <p:nvPr/>
        </p:nvSpPr>
        <p:spPr>
          <a:xfrm>
            <a:off x="768096" y="2481834"/>
            <a:ext cx="73152" cy="4114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3" name="Shape 11"/>
          <p:cNvSpPr/>
          <p:nvPr/>
        </p:nvSpPr>
        <p:spPr>
          <a:xfrm>
            <a:off x="1298448" y="2481834"/>
            <a:ext cx="73152" cy="4114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5474" y="2276856"/>
            <a:ext cx="41148" cy="7315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5" name="Shape 13"/>
          <p:cNvSpPr/>
          <p:nvPr/>
        </p:nvSpPr>
        <p:spPr>
          <a:xfrm>
            <a:off x="1125474" y="2807208"/>
            <a:ext cx="41148" cy="7315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6" name="Shape 14"/>
          <p:cNvSpPr/>
          <p:nvPr/>
        </p:nvSpPr>
        <p:spPr>
          <a:xfrm>
            <a:off x="768096" y="2634234"/>
            <a:ext cx="73152" cy="4114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7" name="Shape 15"/>
          <p:cNvSpPr/>
          <p:nvPr/>
        </p:nvSpPr>
        <p:spPr>
          <a:xfrm>
            <a:off x="1298448" y="2634234"/>
            <a:ext cx="73152" cy="4114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463040" y="23317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SUBJECTS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4672" y="3017520"/>
            <a:ext cx="3008376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3282696"/>
            <a:ext cx="82296" cy="8229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24128" y="3108960"/>
            <a:ext cx="2807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logic design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04672" y="4032504"/>
            <a:ext cx="82296" cy="8229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24128" y="3858768"/>
            <a:ext cx="2807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4672" y="4782312"/>
            <a:ext cx="82296" cy="8229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24128" y="4608576"/>
            <a:ext cx="2807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electronics &amp; semiconductor physics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251960" y="205740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44568" y="235000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E4620"/>
          </a:solidFill>
          <a:ln w="19050">
            <a:solidFill>
              <a:srgbClr val="00B8A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90872" y="2496312"/>
            <a:ext cx="164592" cy="16459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76394" y="2276856"/>
            <a:ext cx="41148" cy="7315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2" name="Shape 30"/>
          <p:cNvSpPr/>
          <p:nvPr/>
        </p:nvSpPr>
        <p:spPr>
          <a:xfrm>
            <a:off x="4676394" y="2807208"/>
            <a:ext cx="41148" cy="7315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3" name="Shape 31"/>
          <p:cNvSpPr/>
          <p:nvPr/>
        </p:nvSpPr>
        <p:spPr>
          <a:xfrm>
            <a:off x="4471416" y="2481834"/>
            <a:ext cx="73152" cy="4114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4" name="Shape 32"/>
          <p:cNvSpPr/>
          <p:nvPr/>
        </p:nvSpPr>
        <p:spPr>
          <a:xfrm>
            <a:off x="5001768" y="2481834"/>
            <a:ext cx="73152" cy="4114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5" name="Shape 33"/>
          <p:cNvSpPr/>
          <p:nvPr/>
        </p:nvSpPr>
        <p:spPr>
          <a:xfrm>
            <a:off x="4828794" y="2276856"/>
            <a:ext cx="41148" cy="7315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6" name="Shape 34"/>
          <p:cNvSpPr/>
          <p:nvPr/>
        </p:nvSpPr>
        <p:spPr>
          <a:xfrm>
            <a:off x="4828794" y="2807208"/>
            <a:ext cx="41148" cy="7315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7" name="Shape 35"/>
          <p:cNvSpPr/>
          <p:nvPr/>
        </p:nvSpPr>
        <p:spPr>
          <a:xfrm>
            <a:off x="4471416" y="2634234"/>
            <a:ext cx="73152" cy="4114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8" name="Shape 36"/>
          <p:cNvSpPr/>
          <p:nvPr/>
        </p:nvSpPr>
        <p:spPr>
          <a:xfrm>
            <a:off x="5001768" y="2634234"/>
            <a:ext cx="73152" cy="4114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166360" y="23317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&amp; TOOLS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507992" y="3017520"/>
            <a:ext cx="3008376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07992" y="3282696"/>
            <a:ext cx="82296" cy="8229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727448" y="3108960"/>
            <a:ext cx="2807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Verilog / VHDL (HDL coding)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507992" y="4032504"/>
            <a:ext cx="82296" cy="8229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727448" y="3858768"/>
            <a:ext cx="2807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and Python for scripting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507992" y="4782312"/>
            <a:ext cx="82296" cy="8229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727448" y="4608576"/>
            <a:ext cx="2807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command-line basics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507992" y="5532120"/>
            <a:ext cx="82296" cy="8229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736779" y="5358384"/>
            <a:ext cx="2807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version control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955280" y="205740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247888" y="235000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3234A"/>
          </a:solidFill>
          <a:ln w="19050">
            <a:solidFill>
              <a:srgbClr val="00B8A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394192" y="2496312"/>
            <a:ext cx="164592" cy="16459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79714" y="2276856"/>
            <a:ext cx="41148" cy="7315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3" name="Shape 51"/>
          <p:cNvSpPr/>
          <p:nvPr/>
        </p:nvSpPr>
        <p:spPr>
          <a:xfrm>
            <a:off x="8379714" y="2807208"/>
            <a:ext cx="41148" cy="7315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4" name="Shape 52"/>
          <p:cNvSpPr/>
          <p:nvPr/>
        </p:nvSpPr>
        <p:spPr>
          <a:xfrm>
            <a:off x="8174736" y="2481834"/>
            <a:ext cx="73152" cy="4114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5" name="Shape 53"/>
          <p:cNvSpPr/>
          <p:nvPr/>
        </p:nvSpPr>
        <p:spPr>
          <a:xfrm>
            <a:off x="8705088" y="2481834"/>
            <a:ext cx="73152" cy="4114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6" name="Shape 54"/>
          <p:cNvSpPr/>
          <p:nvPr/>
        </p:nvSpPr>
        <p:spPr>
          <a:xfrm>
            <a:off x="8532114" y="2276856"/>
            <a:ext cx="41148" cy="7315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7" name="Shape 55"/>
          <p:cNvSpPr/>
          <p:nvPr/>
        </p:nvSpPr>
        <p:spPr>
          <a:xfrm>
            <a:off x="8532114" y="2807208"/>
            <a:ext cx="41148" cy="7315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8" name="Shape 56"/>
          <p:cNvSpPr/>
          <p:nvPr/>
        </p:nvSpPr>
        <p:spPr>
          <a:xfrm>
            <a:off x="8174736" y="2634234"/>
            <a:ext cx="73152" cy="4114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9" name="Shape 57"/>
          <p:cNvSpPr/>
          <p:nvPr/>
        </p:nvSpPr>
        <p:spPr>
          <a:xfrm>
            <a:off x="8705088" y="2634234"/>
            <a:ext cx="73152" cy="4114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8869680" y="23317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&amp; RESOURCES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8211312" y="3017520"/>
            <a:ext cx="3008376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11312" y="3282696"/>
            <a:ext cx="82296" cy="8229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8430768" y="3108960"/>
            <a:ext cx="2807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NPTEL / Coursera VLSI courses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8211312" y="4032504"/>
            <a:ext cx="82296" cy="8229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8430768" y="3858768"/>
            <a:ext cx="2807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tools: Yosys, OpenLane, Icarus Verilog, </a:t>
            </a:r>
            <a:r>
              <a:rPr lang="en-US" sz="1150" dirty="0" err="1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KLayout</a:t>
            </a: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Magic, </a:t>
            </a:r>
            <a:r>
              <a:rPr lang="en-US" sz="1150" dirty="0" err="1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Netgen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8211312" y="4782312"/>
            <a:ext cx="82296" cy="8229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8430768" y="4608576"/>
            <a:ext cx="2807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personal projects on GitHub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8211312" y="5532120"/>
            <a:ext cx="82296" cy="8229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8430768" y="5358384"/>
            <a:ext cx="2807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practice over last-minute cramming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371600"/>
            <a:ext cx="1417320" cy="1417320"/>
          </a:xfrm>
          <a:prstGeom prst="roundRect">
            <a:avLst>
              <a:gd name="adj" fmla="val 8000"/>
            </a:avLst>
          </a:prstGeom>
          <a:solidFill>
            <a:srgbClr val="13234A"/>
          </a:solidFill>
          <a:ln w="19050">
            <a:solidFill>
              <a:srgbClr val="00B8A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48502" y="1825142"/>
            <a:ext cx="510235" cy="510235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85511" y="1144829"/>
            <a:ext cx="127559" cy="226771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" name="Shape 3"/>
          <p:cNvSpPr/>
          <p:nvPr/>
        </p:nvSpPr>
        <p:spPr>
          <a:xfrm>
            <a:off x="5685511" y="2788920"/>
            <a:ext cx="127559" cy="226771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6" name="Shape 4"/>
          <p:cNvSpPr/>
          <p:nvPr/>
        </p:nvSpPr>
        <p:spPr>
          <a:xfrm>
            <a:off x="5168189" y="1662151"/>
            <a:ext cx="226771" cy="127559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7" name="Shape 5"/>
          <p:cNvSpPr/>
          <p:nvPr/>
        </p:nvSpPr>
        <p:spPr>
          <a:xfrm>
            <a:off x="6812280" y="1662151"/>
            <a:ext cx="226771" cy="127559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8" name="Shape 6"/>
          <p:cNvSpPr/>
          <p:nvPr/>
        </p:nvSpPr>
        <p:spPr>
          <a:xfrm>
            <a:off x="6039841" y="1144829"/>
            <a:ext cx="127559" cy="226771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9" name="Shape 7"/>
          <p:cNvSpPr/>
          <p:nvPr/>
        </p:nvSpPr>
        <p:spPr>
          <a:xfrm>
            <a:off x="6039841" y="2788920"/>
            <a:ext cx="127559" cy="226771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0" name="Shape 8"/>
          <p:cNvSpPr/>
          <p:nvPr/>
        </p:nvSpPr>
        <p:spPr>
          <a:xfrm>
            <a:off x="5168189" y="2016481"/>
            <a:ext cx="226771" cy="127559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1" name="Shape 9"/>
          <p:cNvSpPr/>
          <p:nvPr/>
        </p:nvSpPr>
        <p:spPr>
          <a:xfrm>
            <a:off x="6812280" y="2016481"/>
            <a:ext cx="226771" cy="127559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2" name="Shape 10"/>
          <p:cNvSpPr/>
          <p:nvPr/>
        </p:nvSpPr>
        <p:spPr>
          <a:xfrm>
            <a:off x="6394171" y="1144829"/>
            <a:ext cx="127559" cy="226771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3" name="Shape 11"/>
          <p:cNvSpPr/>
          <p:nvPr/>
        </p:nvSpPr>
        <p:spPr>
          <a:xfrm>
            <a:off x="6394171" y="2788920"/>
            <a:ext cx="127559" cy="226771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4" name="Shape 12"/>
          <p:cNvSpPr/>
          <p:nvPr/>
        </p:nvSpPr>
        <p:spPr>
          <a:xfrm>
            <a:off x="5168189" y="2370811"/>
            <a:ext cx="226771" cy="127559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5" name="Shape 13"/>
          <p:cNvSpPr/>
          <p:nvPr/>
        </p:nvSpPr>
        <p:spPr>
          <a:xfrm>
            <a:off x="6812280" y="2370811"/>
            <a:ext cx="226771" cy="127559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01752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Chips Around You Didn't Design Themselves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4718304" y="3794760"/>
            <a:ext cx="2743200" cy="0"/>
          </a:xfrm>
          <a:prstGeom prst="line">
            <a:avLst/>
          </a:prstGeom>
          <a:noFill/>
          <a:ln w="12700">
            <a:solidFill>
              <a:srgbClr val="00B8A9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463040" y="397764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sat down, learned the basics, and built them — that someone could be you.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6177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one together.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ELIX Club • IIIT Kottayam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482</Words>
  <Application>Microsoft Office PowerPoint</Application>
  <PresentationFormat>Widescreen</PresentationFormat>
  <Paragraphs>81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Adarsh V N</cp:lastModifiedBy>
  <cp:revision>3</cp:revision>
  <dcterms:created xsi:type="dcterms:W3CDTF">2026-09-18T05:57:41Z</dcterms:created>
  <dcterms:modified xsi:type="dcterms:W3CDTF">2026-09-26T19:20:58Z</dcterms:modified>
</cp:coreProperties>
</file>